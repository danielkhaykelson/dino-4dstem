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What is the model actually looking 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0584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CADCFC"/>
                </a:solidFill>
                <a:latin typeface="Calibri"/>
              </a:rPr>
              <a:t>Interpreting self-supervised 4D-STEM diffraction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Making the DINO “grain map” explainable in physical terms — IMC &amp; NaPHI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Daniel Khaykelson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65A82"/>
                </a:solidFill>
                <a:latin typeface="Georgia"/>
              </a:rPr>
              <a:t>The setup — and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</a:rPr>
              <a:t>What the model does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At every probe position it reads the diffraction pattern and sorts the position into one of 14 groups — with no labels and no chemistry input. The result is a “grain map.”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800" b="1" i="0">
                <a:solidFill>
                  <a:srgbClr val="1C7293"/>
                </a:solidFill>
                <a:latin typeface="Calibri"/>
              </a:rPr>
              <a:t>The problem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It works, but it is a black box: we do not know which physical property defines the groups — crystallinity? thickness? crystal orientation? something new?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600" b="0" i="1">
                <a:solidFill>
                  <a:srgbClr val="065A82"/>
                </a:solidFill>
                <a:latin typeface="Calibri"/>
              </a:rPr>
              <a:t>Goal: explain the groups in physical terms a chemist can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c_class_mean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58660"/>
            <a:ext cx="4754880" cy="29863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5367528"/>
            <a:ext cx="475488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5A6678"/>
                </a:solidFill>
                <a:latin typeface="Calibri"/>
              </a:rPr>
              <a:t>Each group's average diffraction pattern (IMC, 14 groups).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65A82"/>
                </a:solidFill>
                <a:latin typeface="Georgia"/>
              </a:rPr>
              <a:t>Four simple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5A6678"/>
                </a:solidFill>
                <a:latin typeface="Calibri"/>
              </a:rPr>
              <a:t>Each is independent; together they triangulate what the model uses.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2230"/>
                </a:solidFill>
                <a:latin typeface="Georgia"/>
              </a:rPr>
              <a:t>Probing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64792"/>
            <a:ext cx="72237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A2230"/>
                </a:solidFill>
                <a:latin typeface="Calibri"/>
              </a:rPr>
              <a:t>Can we predict a known physical property from the model's internal fingerprint? If yes, it pays attention to that property.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2230"/>
                </a:solidFill>
                <a:latin typeface="Georgia"/>
              </a:rPr>
              <a:t>Ablation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07792"/>
            <a:ext cx="72237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A2230"/>
                </a:solidFill>
                <a:latin typeface="Calibri"/>
              </a:rPr>
              <a:t>Erase one ingredient of the diffraction pattern, re-run the model, and see whether the map survives.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69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2230"/>
                </a:solidFill>
                <a:latin typeface="Georgia"/>
              </a:rPr>
              <a:t>Classical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50792"/>
            <a:ext cx="72237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A2230"/>
                </a:solidFill>
                <a:latin typeface="Calibri"/>
              </a:rPr>
              <a:t>Could a standard 4D-STEM method (virtual detector, PCA, NMF) have drawn the same map — or is this map new?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A2230"/>
                </a:solidFill>
                <a:latin typeface="Georgia"/>
              </a:rPr>
              <a:t>Orientation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93792"/>
            <a:ext cx="722376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A2230"/>
                </a:solidFill>
                <a:latin typeface="Calibri"/>
              </a:rPr>
              <a:t>Is it merely sorting by crystal orientation? (plus Grad-CAM: which part of the pattern it looks at.)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Test 1 · Probing — what is encoded?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67512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C7293"/>
                </a:solidFill>
                <a:latin typeface="Calibri"/>
              </a:rPr>
              <a:t>In plain terms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If we can “read off” a property (say crystallinity) from the model's notes for each point, then the model is keeping track of it.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800" b="1" i="0">
                <a:solidFill>
                  <a:srgbClr val="1C7293"/>
                </a:solidFill>
                <a:latin typeface="Calibri"/>
              </a:rPr>
              <a:t>How it is measured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600" b="0" i="0">
                <a:solidFill>
                  <a:srgbClr val="1A2230"/>
                </a:solidFill>
                <a:latin typeface="Calibri"/>
              </a:rPr>
              <a:t>Fit a simple linear predictor from the model's 128-number fingerprint to each measured property. The score R² (0–1) says how predictable — i.e. how strongly encoded — that property is.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600" b="0" i="1">
                <a:solidFill>
                  <a:srgbClr val="065A82"/>
                </a:solidFill>
                <a:latin typeface="Calibri"/>
              </a:rPr>
              <a:t>Properties tested: total scattered intensity, crystallinity, spottiness, and crystal orientation (ACOM).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554480"/>
            <a:ext cx="3931920" cy="310896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920240"/>
            <a:ext cx="3931920" cy="2560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E8A33D"/>
                </a:solidFill>
                <a:latin typeface="Georgia"/>
              </a:rPr>
              <a:t>R² ≈ 1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strongly encoded</a:t>
            </a:r>
          </a:p>
          <a:p>
            <a:pPr algn="ctr">
              <a:lnSpc>
                <a:spcPct val="105000"/>
              </a:lnSpc>
              <a:spcBef>
                <a:spcPts val="1800"/>
              </a:spcBef>
            </a:pPr>
            <a:r>
              <a:rPr sz="4000" b="1" i="0">
                <a:solidFill>
                  <a:srgbClr val="CADCFC"/>
                </a:solidFill>
                <a:latin typeface="Georgia"/>
              </a:rPr>
              <a:t>R² ≈ 0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ignored by 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892040"/>
            <a:ext cx="39319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5A6678"/>
                </a:solidFill>
                <a:latin typeface="Calibri"/>
              </a:rPr>
              <a:t>Result preview: scattered intensity &amp; crystallinity score high; orientation scores ~0.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13385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Test 2 · Ablation — what does it depend 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846320" cy="4937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C7293"/>
                </a:solidFill>
                <a:latin typeface="Calibri"/>
              </a:rPr>
              <a:t>In plain terms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Like covering part of a photo to see if you still recognise it.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700" b="1" i="0">
                <a:solidFill>
                  <a:srgbClr val="1C7293"/>
                </a:solidFill>
                <a:latin typeface="Calibri"/>
              </a:rPr>
              <a:t>How it is measured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Blank out one ingredient — overall brightness, fine angular detail, or inner vs. outer rings — re-run the model, and compare the new map to the original (agreement = ARI).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1">
                <a:solidFill>
                  <a:srgbClr val="065A82"/>
                </a:solidFill>
                <a:latin typeface="Calibri"/>
              </a:rPr>
              <a:t>Map survives the edit → that ingredient was not needed. Map falls apart → the model depended on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371600"/>
            <a:ext cx="5943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c_ab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078122"/>
            <a:ext cx="5669280" cy="1138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06440" y="3831335"/>
            <a:ext cx="566928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5A6678"/>
                </a:solidFill>
                <a:latin typeface="Calibri"/>
              </a:rPr>
              <a:t>Re-inference after each edit (IMC). Low agreement = the model relied on what was removed.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526280"/>
            <a:ext cx="5943600" cy="160020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4617720"/>
            <a:ext cx="55778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What we see: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• Remove overall brightness → map collapses (intensity matters).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• Average away the angles → collapses (needs the 2-D pattern, not just a 1-D profile).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A2230"/>
                </a:solidFill>
                <a:latin typeface="Calibri"/>
              </a:rPr>
              <a:t>• Inner (low-angle) rings matter far more than outer 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What each edit does — before vs. after</a:t>
            </a:r>
          </a:p>
        </p:txBody>
      </p:sp>
      <p:pic>
        <p:nvPicPr>
          <p:cNvPr id="4" name="Picture 3" descr="ablation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67" y="1097280"/>
            <a:ext cx="2801864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0" y="1371600"/>
            <a:ext cx="731520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C7293"/>
                </a:solidFill>
                <a:latin typeface="Calibri"/>
              </a:rPr>
              <a:t>Same diffraction pattern, edited one way at a time: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• scattered-norm — rescales the overall brightness away (keeps the pattern, removes ‘how much it scatters’).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• radial-only — keeps the rings, erases all angular detail.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• blur — washes out the sharp Bragg spots.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• mask low-q / high-q — blanks the inner / outer rings.</a:t>
            </a:r>
          </a:p>
          <a:p>
            <a:pPr algn="l">
              <a:lnSpc>
                <a:spcPct val="105000"/>
              </a:lnSpc>
              <a:spcBef>
                <a:spcPts val="1400"/>
              </a:spcBef>
            </a:pPr>
            <a:r>
              <a:rPr sz="1500" b="0" i="1">
                <a:solidFill>
                  <a:srgbClr val="065A82"/>
                </a:solidFill>
                <a:latin typeface="Calibri"/>
              </a:rPr>
              <a:t>We re-run the model on each edited version and check whether the map survives (Test 2). The edits that break the map reveal what the model relies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13385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65A82"/>
                </a:solidFill>
                <a:latin typeface="Georgia"/>
              </a:rPr>
              <a:t>Test 3 · Could a classical method do the same?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84632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C7293"/>
                </a:solidFill>
                <a:latin typeface="Calibri"/>
              </a:rPr>
              <a:t>In plain terms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Does the AI just redraw what an old-school analysis already shows, or something genuinely new?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700" b="1" i="0">
                <a:solidFill>
                  <a:srgbClr val="1C7293"/>
                </a:solidFill>
                <a:latin typeface="Calibri"/>
              </a:rPr>
              <a:t>How it is measured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500" b="0" i="0">
                <a:solidFill>
                  <a:srgbClr val="1A2230"/>
                </a:solidFill>
                <a:latin typeface="Calibri"/>
              </a:rPr>
              <a:t>Cluster classical features — virtual dark-field, azimuthal profile, PCA / NMF of the pattern — into the same number of groups, and measure agreement with the AI map (ARI / AMI).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09160"/>
            <a:ext cx="4846320" cy="160020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443484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alibri"/>
              </a:rPr>
              <a:t>Uniqueness is material-dependent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IMC: classical agreement ARI ≈ 0.15 → the AI map is distinctive (classical methods miss the fine grains).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CADCFC"/>
                </a:solidFill>
                <a:latin typeface="Calibri"/>
              </a:rPr>
              <a:t>NaPHI: ARI ≈ 0.5 → about half-classical.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58521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c_dino_vs_clas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12869"/>
            <a:ext cx="5486400" cy="1112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498848"/>
            <a:ext cx="548640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5A6678"/>
                </a:solidFill>
                <a:latin typeface="Calibri"/>
              </a:rPr>
              <a:t>IMC: DINO (far left) vs. classical clusterings. Colours are arbitrary; shape match is what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65A82"/>
                </a:solidFill>
                <a:latin typeface="Georgia"/>
              </a:rPr>
              <a:t>How to read the two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01168" cy="1920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3108960" cy="1920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065A82"/>
                </a:solidFill>
                <a:latin typeface="Georgia"/>
              </a:rPr>
              <a:t>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37360"/>
            <a:ext cx="6675120" cy="1920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2230"/>
                </a:solidFill>
                <a:latin typeface="Calibri"/>
              </a:rPr>
              <a:t>How predictable a property is from the model's fingerprint.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5A6678"/>
                </a:solidFill>
                <a:latin typeface="Calibri"/>
              </a:rPr>
              <a:t>0 = the model ignores it     →     1 = fully encoded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201168" cy="19202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3108960" cy="1920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C7293"/>
                </a:solidFill>
                <a:latin typeface="Georgia"/>
              </a:rPr>
              <a:t>ARI / AMI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77639"/>
            <a:ext cx="6675120" cy="1920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A2230"/>
                </a:solidFill>
                <a:latin typeface="Calibri"/>
              </a:rPr>
              <a:t>How much two maps agree, correcting for chance.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600" b="0" i="0">
                <a:solidFill>
                  <a:srgbClr val="5A6678"/>
                </a:solidFill>
                <a:latin typeface="Calibri"/>
              </a:rPr>
              <a:t>0 = no better than random     →     1 = identical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65A82"/>
                </a:solidFill>
                <a:latin typeface="Georgia"/>
              </a:rPr>
              <a:t>Across all samples</a:t>
            </a:r>
          </a:p>
        </p:txBody>
      </p:sp>
      <p:pic>
        <p:nvPicPr>
          <p:cNvPr id="4" name="Picture 3" descr="cross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65" y="1051560"/>
            <a:ext cx="10909828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50207"/>
            <a:ext cx="11338560" cy="3017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1">
                <a:solidFill>
                  <a:srgbClr val="5A6678"/>
                </a:solidFill>
                <a:latin typeface="Calibri"/>
              </a:rPr>
              <a:t>IMC SI3/SI4/SI5 · NaPHI (Na007b) · EuInAs. (a) classical agreement; (b) intensity dependence; (c) low-q vs high-q.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17720"/>
            <a:ext cx="5394960" cy="1783080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36592"/>
            <a:ext cx="4983480" cy="1554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1295C"/>
                </a:solidFill>
                <a:latin typeface="Calibri"/>
              </a:rPr>
              <a:t>Same physical basis everywhere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1A2230"/>
                </a:solidFill>
                <a:latin typeface="Calibri"/>
              </a:rPr>
              <a:t>Scattered intensity + low-q 2-D structure drive every sample; removing intensity or the low-q band breaks the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17720"/>
            <a:ext cx="5394960" cy="1783080"/>
          </a:xfrm>
          <a:prstGeom prst="round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736592"/>
            <a:ext cx="4983480" cy="1554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8A33D"/>
                </a:solidFill>
                <a:latin typeface="Calibri"/>
              </a:rPr>
              <a:t>Distinctiveness varies by material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IMC: classical ARI ≈ 0.1–0.2 (distinctive). NaPHI &amp; EuInAs: ≈ 0.5 (classical gets most of the way).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300" b="0" i="0">
                <a:solidFill>
                  <a:srgbClr val="CADCFC"/>
                </a:solidFill>
                <a:latin typeface="Calibri"/>
              </a:rPr>
              <a:t>EuInAs alone also tracks crystal orientation (zone-axis AMI ≈ 0.3).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What it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424160" cy="4389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FFFFFF"/>
                </a:solidFill>
                <a:latin typeface="Calibri"/>
              </a:rPr>
              <a:t>The model groups regions by how much, and what, they diffract at low angles — crystallinity, molecular packing, and thickness. A physically sensible axis, not an arbitrary black box.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600" b="0" i="0">
                <a:solidFill>
                  <a:srgbClr val="CADCFC"/>
                </a:solidFill>
                <a:latin typeface="Calibri"/>
              </a:rPr>
              <a:t>For IMC it is genuinely distinctive (a standard virtual-detector / PCA map does not reproduce it); for NaPHI and EuInAs it stays closer to classical. The crystalline EuInAs additionally tracks crystal orientation (zone-axis), which the molecular films do not.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500" b="0" i="1">
                <a:solidFill>
                  <a:srgbClr val="CADCFC"/>
                </a:solidFill>
                <a:latin typeface="Calibri"/>
              </a:rPr>
              <a:t>Caveat: “scattered intensity” blends crystallinity with sample thickness — a thickness map would separate the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