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Georgia"/>
              </a:rPr>
              <a:t>What is the model actually looking 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CADCFC"/>
                </a:solidFill>
                <a:latin typeface="Calibri"/>
              </a:rPr>
              <a:t>Interpreting self-supervised 4D-STEM diffraction clustering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CADCFC"/>
                </a:solidFill>
                <a:latin typeface="Calibri"/>
              </a:rPr>
              <a:t>Making the DINO “grain map” explainable in physical terms — IMC &amp; NaPHI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Daniel Khaykelson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The setup — and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C7293"/>
                </a:solidFill>
                <a:latin typeface="Calibri"/>
              </a:rPr>
              <a:t>What the model does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At every probe position it reads the diffraction pattern and sorts the position into one of 14 groups — with no labels and no chemistry input. The result is a “grain map.”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800" b="1" i="0">
                <a:solidFill>
                  <a:srgbClr val="1C7293"/>
                </a:solidFill>
                <a:latin typeface="Calibri"/>
              </a:rPr>
              <a:t>The problem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It works, but it is a black box: we do not know which physical property defines the groups — crystallinity? thickness? crystal orientation? something new?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600" b="0" i="1">
                <a:solidFill>
                  <a:srgbClr val="065A82"/>
                </a:solidFill>
                <a:latin typeface="Calibri"/>
              </a:rPr>
              <a:t>Goal: explain the groups in physical terms a chemist can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c_class_mean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58660"/>
            <a:ext cx="4754880" cy="29863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5367528"/>
            <a:ext cx="475488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Each group's average diffraction pattern (IMC, 14 groups).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Four simple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5A6678"/>
                </a:solidFill>
                <a:latin typeface="Calibri"/>
              </a:rPr>
              <a:t>Each is independent; together they triangulate what the model uses.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Probing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764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Can we predict a known physical property from the model's internal fingerprint? If yes, it pays attention to that property.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926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907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Erase one ingredient of the diffraction pattern, re-run the model, and see whether the map survives.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114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69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Classical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50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Could a standard 4D-STEM method (virtual detector, PCA, NMF) have drawn the same map — or is this map new?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25780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A2230"/>
                </a:solidFill>
                <a:latin typeface="Georgia"/>
              </a:rPr>
              <a:t>Orientation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193792"/>
            <a:ext cx="72237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A2230"/>
                </a:solidFill>
                <a:latin typeface="Calibri"/>
              </a:rPr>
              <a:t>Is it merely sorting by crystal orientation? (plus Grad-CAM: which part of the pattern it looks at.)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1 · Probing — what is encoded?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667512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If we can “read off” a property (say crystallinity) from the model's notes for each point, then the model is keeping track of it.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8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Fit a simple linear predictor from the model's 128-number fingerprint to each measured property. The score R² (0–1) says how predictable — i.e. how strongly encoded — that property is.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</a:pPr>
            <a:r>
              <a:rPr sz="1600" b="0" i="1">
                <a:solidFill>
                  <a:srgbClr val="065A82"/>
                </a:solidFill>
                <a:latin typeface="Calibri"/>
              </a:rPr>
              <a:t>Properties tested: total scattered intensity, crystallinity, spottiness, and crystal orientation (ACOM).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554480"/>
            <a:ext cx="3931920" cy="310896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920240"/>
            <a:ext cx="3931920" cy="2560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E8A33D"/>
                </a:solidFill>
                <a:latin typeface="Georgia"/>
              </a:rPr>
              <a:t>R² ≈ 1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strongly encoded</a:t>
            </a:r>
          </a:p>
          <a:p>
            <a:pPr algn="ctr">
              <a:lnSpc>
                <a:spcPct val="105000"/>
              </a:lnSpc>
              <a:spcBef>
                <a:spcPts val="1800"/>
              </a:spcBef>
            </a:pPr>
            <a:r>
              <a:rPr sz="4000" b="1" i="0">
                <a:solidFill>
                  <a:srgbClr val="CADCFC"/>
                </a:solidFill>
                <a:latin typeface="Georgia"/>
              </a:rPr>
              <a:t>R² ≈ 0</a:t>
            </a:r>
          </a:p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ignored by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892040"/>
            <a:ext cx="39319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5A6678"/>
                </a:solidFill>
                <a:latin typeface="Calibri"/>
              </a:rPr>
              <a:t>Result preview: scattered intensity &amp; crystallinity score high; orientation scores ~0.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3385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2 · Ablation — what does it depend 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484632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Like covering part of a photo to see if you still recognise it.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Blank out one ingredient — overall brightness, fine angular detail, or inner vs. outer rings — re-run the model, and compare the new map to the original (agreement = ARI).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1">
                <a:solidFill>
                  <a:srgbClr val="065A82"/>
                </a:solidFill>
                <a:latin typeface="Calibri"/>
              </a:rPr>
              <a:t>Map survives the edit → that ingredient was not needed. Map falls apart → the model depended on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371600"/>
            <a:ext cx="59436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c_ablat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78122"/>
            <a:ext cx="5669280" cy="11381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3831335"/>
            <a:ext cx="566928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Re-inference after each edit (IMC). Low agreement = the model relied on what was removed.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4526280"/>
            <a:ext cx="5943600" cy="1600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97880" y="4617720"/>
            <a:ext cx="557784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Calibri"/>
              </a:rPr>
              <a:t>What we see: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Remove overall brightness → map collapses (intensity matters).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Average away the angles → collapses (needs the 2-D pattern, not just a 1-D profile).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A2230"/>
                </a:solidFill>
                <a:latin typeface="Calibri"/>
              </a:rPr>
              <a:t>• Inner (low-angle) rings matter far more than outer rings.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133856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65A82"/>
                </a:solidFill>
                <a:latin typeface="Georgia"/>
              </a:rPr>
              <a:t>Test 3 · Could a classical method do the same?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484632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C7293"/>
                </a:solidFill>
                <a:latin typeface="Calibri"/>
              </a:rPr>
              <a:t>In plain terms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Does the AI just redraw what an old-school analysis already shows, or something genuinely new?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700" b="1" i="0">
                <a:solidFill>
                  <a:srgbClr val="1C7293"/>
                </a:solidFill>
                <a:latin typeface="Calibri"/>
              </a:rPr>
              <a:t>How it is measured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500" b="0" i="0">
                <a:solidFill>
                  <a:srgbClr val="1A2230"/>
                </a:solidFill>
                <a:latin typeface="Calibri"/>
              </a:rPr>
              <a:t>Cluster classical features — virtual dark-field, azimuthal profile, PCA / NMF of the pattern — into the same number of groups, and measure agreement with the AI map (ARI / AMI).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709160"/>
            <a:ext cx="4846320" cy="1600200"/>
          </a:xfrm>
          <a:prstGeom prst="round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846320"/>
            <a:ext cx="4434840" cy="1371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8A33D"/>
                </a:solidFill>
                <a:latin typeface="Calibri"/>
              </a:rPr>
              <a:t>Uniqueness is material-dependent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IMC: classical agreement ARI ≈ 0.15 → the AI map is distinctive (classical methods miss the fine grains).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ADCFC"/>
                </a:solidFill>
                <a:latin typeface="Calibri"/>
              </a:rPr>
              <a:t>NaPHI: ARI ≈ 0.5 → about half-classical.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874519"/>
            <a:ext cx="5852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c_dino_vs_clas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712869"/>
            <a:ext cx="5486400" cy="11122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4498848"/>
            <a:ext cx="548640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IMC: DINO (far left) vs. classical clusterings. Colours are arbitrary; shape match is what counts.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How to read the two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201168" cy="19202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065A82"/>
                </a:solidFill>
                <a:latin typeface="Georgia"/>
              </a:rPr>
              <a:t>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737360"/>
            <a:ext cx="667512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A2230"/>
                </a:solidFill>
                <a:latin typeface="Calibri"/>
              </a:rPr>
              <a:t>How predictable a property is from the model's fingerprint.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5A6678"/>
                </a:solidFill>
                <a:latin typeface="Calibri"/>
              </a:rPr>
              <a:t>0 = the model ignores it     →     1 = fully encoded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10515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201168" cy="19202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77639"/>
            <a:ext cx="310896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7293"/>
                </a:solidFill>
                <a:latin typeface="Georgia"/>
              </a:rPr>
              <a:t>ARI / AMI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977639"/>
            <a:ext cx="6675120" cy="1920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A2230"/>
                </a:solidFill>
                <a:latin typeface="Calibri"/>
              </a:rPr>
              <a:t>How much two maps agree, correcting for chance.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5A6678"/>
                </a:solidFill>
                <a:latin typeface="Calibri"/>
              </a:rPr>
              <a:t>0 = no better than random     →     1 = identical maps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Georgia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A2230"/>
                </a:solidFill>
                <a:latin typeface="Calibri"/>
              </a:rPr>
              <a:t>• The groups are driven by the overall scattered intensity plus the inner, low-angle (low-q) 2-D diffraction structure.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• NOT by crystal orientation (agreement ≈ 0) — the model is rotation-invariant by design.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• Uniqueness is material-dependent: IMC maps are distinctive (classical ≈ 0.15); NaPHI is ~half-classical (≈ 0.5).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A2230"/>
                </a:solidFill>
                <a:latin typeface="Calibri"/>
              </a:rPr>
              <a:t>• Log-stretch preprocessing keeps the same basis but sharpens it — more, cleaner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s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62444"/>
            <a:ext cx="4937760" cy="15617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4727448"/>
            <a:ext cx="4937760" cy="30175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1">
                <a:solidFill>
                  <a:srgbClr val="5A6678"/>
                </a:solidFill>
                <a:latin typeface="Calibri"/>
              </a:rPr>
              <a:t>Cross-sample: (a) what's encoded, (b) ablations, (c) classical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600200"/>
            <a:ext cx="49377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1">
                <a:solidFill>
                  <a:srgbClr val="5A6678"/>
                </a:solidFill>
                <a:latin typeface="Calibri"/>
              </a:rPr>
              <a:t>Across IMC SI3/SI4/SI5 and NaPHI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What it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4241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The model groups regions by how much, and what, they diffract at low angles — crystallinity, molecular packing, and thickness. A physically sensible axis, not an arbitrary black box.</a:t>
            </a:r>
          </a:p>
          <a:p>
            <a:pPr algn="l">
              <a:lnSpc>
                <a:spcPct val="110000"/>
              </a:lnSpc>
              <a:spcBef>
                <a:spcPts val="1600"/>
              </a:spcBef>
            </a:pPr>
            <a:r>
              <a:rPr sz="1700" b="0" i="0">
                <a:solidFill>
                  <a:srgbClr val="CADCFC"/>
                </a:solidFill>
                <a:latin typeface="Calibri"/>
              </a:rPr>
              <a:t>For IMC it is genuinely distinctive (a standard virtual-detector / PCA map does not reproduce it); for NaPHI it stays closer to classical.</a:t>
            </a:r>
          </a:p>
          <a:p>
            <a:pPr algn="l">
              <a:lnSpc>
                <a:spcPct val="110000"/>
              </a:lnSpc>
              <a:spcBef>
                <a:spcPts val="1600"/>
              </a:spcBef>
            </a:pPr>
            <a:r>
              <a:rPr sz="1500" b="0" i="1">
                <a:solidFill>
                  <a:srgbClr val="CADCFC"/>
                </a:solidFill>
                <a:latin typeface="Calibri"/>
              </a:rPr>
              <a:t>Caveat: “scattered intensity” blends crystallinity with sample thickness — a thickness map would separate the two.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